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8E8E93"/>
                </a:solidFill>
                <a:latin typeface="Arial"/>
              </a:defRPr>
            </a:pPr>
            <a:r>
              <a:t>Anthropic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构建最佳实践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E8E93"/>
                </a:solidFill>
                <a:latin typeface="Arial"/>
              </a:defRPr>
            </a:pPr>
            <a:r>
              <a:t>10 个 Agent 角色  ·  5 轮深度辩论  ·  1040 行精炼方法论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技能架构师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5120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提示词工程师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5120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用户代言人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5120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QA专家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5120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企业客户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23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DX工程师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623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认知科学家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623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安全审计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623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资深构建者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5623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7AFF"/>
                </a:solidFill>
                <a:latin typeface="Arial"/>
              </a:defRPr>
            </a:pPr>
            <a:r>
              <a:t>平台工程师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方法论全景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五大核心原则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可验证边界 / 注意力权衡 / 引用悖论 / 失败阈值 / 触发耦合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作用域设计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042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动词-名词对规则 / 决策树 / 文件阈值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触发描述工程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71215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领域宽度策略 / TRIGGER+SKIP / 语义引导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63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指令架构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381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自由度框架 / 注意力曲线 / 格式效果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30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测试验证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05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三级体系 / 断言框架 / 前置反馈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安全防护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威胁模型 / 防护栏 / 审查清单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64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多平台适配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38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能力矩阵 / 检测模式 / 断裂修复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315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315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企业治理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705855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合规分级 / 版本管理 / 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9846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9984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反模式 &amp; 工作流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627278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11 个反模式 / 5 个关键模式 / 隐藏陷阱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五大核心原则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E8E93"/>
                </a:solidFill>
                <a:latin typeface="Arial"/>
              </a:defRPr>
            </a:pPr>
            <a:r>
              <a:t>10 个角色交叉验证后涌现的深层规律，非单一视角的观点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21031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Arial"/>
              </a:defRPr>
            </a:pPr>
            <a:r>
              <a:t>可验证边界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只有结构化约束能被测试、审计和维护</a:t>
            </a:r>
            <a:br/>
            <a:r>
              <a:t>"仔细思考"无法被任何人验证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54864" cy="21031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C759"/>
                </a:solidFill>
                <a:latin typeface="Arial"/>
              </a:defRPr>
            </a:pPr>
            <a:r>
              <a:t>注意力-信任权衡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前50行+最后30行 = 契约区</a:t>
            </a:r>
            <a:br/>
            <a:r>
              <a:t>中间200-350行 = 低注意力危险区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54864" cy="21031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500"/>
                </a:solidFill>
                <a:latin typeface="Arial"/>
              </a:defRPr>
            </a:pPr>
            <a:r>
              <a:t>引用文件悖论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模型要么总加载要么从不加载引用文件</a:t>
            </a:r>
            <a:br/>
            <a:r>
              <a:t>约束内联，文档外化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3383280" cy="21031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54864" cy="21031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Arial"/>
              </a:defRPr>
            </a:pPr>
            <a:r>
              <a:t>失败披露阈值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定义一个明确的失败输出格式</a:t>
            </a:r>
            <a:br/>
            <a:r>
              <a:t>永不模糊，永不Hedge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97680"/>
            <a:ext cx="3383280" cy="21031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297680"/>
            <a:ext cx="54864" cy="2103120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F52DE"/>
                </a:solidFill>
                <a:latin typeface="Arial"/>
              </a:defRPr>
            </a:pPr>
            <a:r>
              <a:t>触发-范围耦合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0060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窄触发+窄范围+窄爆炸半径</a:t>
            </a:r>
            <a:br/>
            <a:r>
              <a:t>三者必须同步移动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可验证边界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FF"/>
                </a:solidFill>
                <a:latin typeface="Arial"/>
              </a:defRPr>
            </a:pPr>
            <a:r>
              <a:t>The Verifiable Perimeter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C759"/>
                </a:solidFill>
                <a:latin typeface="Arial"/>
              </a:defRPr>
            </a:pPr>
            <a:r>
              <a:t>✓  正确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18288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4864" cy="18288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C759"/>
                </a:solidFill>
                <a:latin typeface="Arial"/>
              </a:defRPr>
            </a:pPr>
            <a:r>
              <a:t>结构化约束：可测试、可审计、可维护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每次响应必须以状态行开头：</a:t>
            </a:r>
            <a:br/>
            <a:r>
              <a:t>[STATUS: ok|warning|error] 十字摘要</a:t>
            </a:r>
            <a:br/>
            <a:br/>
            <a:r>
              <a:t>bash 命令必须匹配：^npm (test|run lint|run build)$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3B30"/>
                </a:solidFill>
                <a:latin typeface="Arial"/>
              </a:defRPr>
            </a:pPr>
            <a:r>
              <a:t>✗  错误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029200" cy="18288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4864" cy="1828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Arial"/>
              </a:defRPr>
            </a:pPr>
            <a:r>
              <a:t>内部过程指令：不可测试、不可审计、会腐烂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88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"请仔细检查你的推理过程"</a:t>
            </a:r>
            <a:br/>
            <a:r>
              <a:t>"要全面考虑各种情况"</a:t>
            </a:r>
            <a:br/>
            <a:r>
              <a:t>"用你的最佳判断"</a:t>
            </a:r>
            <a:br/>
            <a:br/>
            <a:r>
              <a:t>→ 没有人能验证是否执行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93"/>
                </a:solidFill>
                <a:latin typeface="Arial"/>
              </a:defRPr>
            </a:pPr>
            <a:r>
              <a:t>核心洞见：安全审计 + QA测试 + 长期维护 三个视角同时要求结构化约束。这是唯一能跨角色达成共识的防护模式。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注意力 U 型曲线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FF"/>
                </a:solidFill>
                <a:latin typeface="Arial"/>
              </a:defRPr>
            </a:pPr>
            <a:r>
              <a:t>LLM 认知科学家的关键发现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54864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C759"/>
                </a:solidFill>
                <a:latin typeface="Arial"/>
              </a:defRPr>
            </a:pPr>
            <a:r>
              <a:t>第 1-50 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关键约束</a:t>
            </a:r>
            <a:br/>
            <a:r>
              <a:t>+ 快速启动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最高注意力</a:t>
            </a:r>
            <a:br/>
            <a:r>
              <a:t>建立行为基调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011680"/>
            <a:ext cx="2560320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Arial"/>
              </a:defRPr>
            </a:pPr>
            <a:r>
              <a:t>第 51-200 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决策树</a:t>
            </a:r>
            <a:br/>
            <a:r>
              <a:t>+ 分支逻辑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中等注意力</a:t>
            </a:r>
            <a:br/>
            <a:r>
              <a:t>适合结构化内容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560320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500"/>
                </a:solidFill>
                <a:latin typeface="Arial"/>
              </a:defRPr>
            </a:pPr>
            <a:r>
              <a:t>第 200-350 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参考表格</a:t>
            </a:r>
            <a:br/>
            <a:r>
              <a:t>+ 查找数据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低注意力危险区</a:t>
            </a:r>
            <a:br/>
            <a:r>
              <a:t>但按需检索不受影响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011680"/>
            <a:ext cx="2560320" cy="54864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C759"/>
                </a:solidFill>
                <a:latin typeface="Arial"/>
              </a:defRPr>
            </a:pPr>
            <a:r>
              <a:t>第 350+ 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651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重复约束</a:t>
            </a:r>
            <a:br/>
            <a:r>
              <a:t>+ 边界情况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注意力回升</a:t>
            </a:r>
            <a:br/>
            <a:r>
              <a:t>接近输出生成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铁律：任何违反后果严重的约束，必须在前 50 行和最后 30 行各出现一次。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作用域设计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Arial"/>
              </a:defRPr>
            </a:pPr>
            <a:r>
              <a:t>核心裁决：一个动词-名词对，不是一个名词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E8E93"/>
                </a:solidFill>
                <a:latin typeface="Arial"/>
              </a:defRPr>
            </a:pPr>
            <a:r>
              <a:t>"Kubernetes" 不是一个技能。"部署到 Kubernetes"、"调试 K8s 网络"、"编写 Helm Charts" 是三个技能。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303520" cy="13716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4864" cy="13716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C759"/>
                </a:solidFill>
                <a:latin typeface="Arial"/>
              </a:defRPr>
            </a:pPr>
            <a:r>
              <a:t>✓ 好的拆分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review-code / write-tests / generate-docs</a:t>
            </a:r>
            <a:br/>
            <a:r>
              <a:t>不同输入、不同输出、不同评估标准</a:t>
            </a:r>
            <a:br/>
            <a:r>
              <a:t>用户自然说"审查这个""测试这个""文档化这个"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5303520" cy="13716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926080"/>
            <a:ext cx="54864" cy="13716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063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30"/>
                </a:solidFill>
                <a:latin typeface="Arial"/>
              </a:defRPr>
            </a:pPr>
            <a:r>
              <a:t>✗ 坏的拆分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pdf-read / pdf-merge / pdf-watermark</a:t>
            </a:r>
            <a:br/>
            <a:r>
              <a:t>相同输入、相同工具链、同一用户会话</a:t>
            </a:r>
            <a:br/>
            <a:r>
              <a:t>读取PDF后想合并不应切换技能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C759"/>
                </a:solidFill>
                <a:latin typeface="Arial"/>
              </a:defRPr>
            </a:pPr>
            <a:r>
              <a:t>合并条件（全部满足）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• 所有操作针对同一类对象</a:t>
            </a:r>
            <a:br/>
            <a:r>
              <a:t>• 共享相同工具链</a:t>
            </a:r>
            <a:br/>
            <a:r>
              <a:t>• 用户期望对话连续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Arial"/>
              </a:defRPr>
            </a:pPr>
            <a:r>
              <a:t>拆分信号（任一满足）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12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• 不同类型的输入</a:t>
            </a:r>
            <a:br/>
            <a:r>
              <a:t>• 不同的工具依赖</a:t>
            </a:r>
            <a:br/>
            <a:r>
              <a:t>• 部分内容独立变更频率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触发描述工程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E8E93"/>
                </a:solidFill>
                <a:latin typeface="Arial"/>
              </a:defRPr>
            </a:pPr>
            <a:r>
              <a:t>描述 = 分类器。指令 = 执行手册。描述通过精确排除来赢得"攻击性"的权利。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7432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27432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AFF"/>
                </a:solidFill>
                <a:latin typeface="Arial"/>
              </a:defRPr>
            </a:pPr>
            <a:r>
              <a:t>窄领域 (PDF/OCR)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触发动词：8-10 个</a:t>
            </a:r>
            <a:br/>
            <a:r>
              <a:t>SKIP：2-3 个</a:t>
            </a:r>
            <a:br/>
            <a:r>
              <a:t>策略：尽情攻击</a:t>
            </a:r>
            <a:br/>
            <a:br/>
            <a:r>
              <a:t>示例：reading, extracting,</a:t>
            </a:r>
            <a:br/>
            <a:r>
              <a:t>merging, splitting, rotating,</a:t>
            </a:r>
            <a:br/>
            <a:r>
              <a:t>watermarking, filling, OCR...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27432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54864" cy="27432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500"/>
                </a:solidFill>
                <a:latin typeface="Arial"/>
              </a:defRPr>
            </a:pPr>
            <a:r>
              <a:t>中等领域 (API开发)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触发动词：5-7 个</a:t>
            </a:r>
            <a:br/>
            <a:r>
              <a:t>SKIP：4-5 个</a:t>
            </a:r>
            <a:br/>
            <a:r>
              <a:t>策略：带限定语境</a:t>
            </a:r>
            <a:br/>
            <a:br/>
            <a:r>
              <a:t>示例：TRIGGER when code</a:t>
            </a:r>
            <a:br/>
            <a:r>
              <a:t>imports anthropic SDK</a:t>
            </a:r>
            <a:br/>
            <a:r>
              <a:t>SKIP: openai imports,</a:t>
            </a:r>
            <a:br/>
            <a:r>
              <a:t>generic programming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83280" cy="27432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54864" cy="27432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30"/>
                </a:solidFill>
                <a:latin typeface="Arial"/>
              </a:defRPr>
            </a:pPr>
            <a:r>
              <a:t>宽领域 (代码审查)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触发动词：4-5 个 + 限定</a:t>
            </a:r>
            <a:br/>
            <a:r>
              <a:t>SKIP：5-7 个（重投入）</a:t>
            </a:r>
            <a:br/>
            <a:r>
              <a:t>策略：克制 + 重 SKIP</a:t>
            </a:r>
            <a:br/>
            <a:br/>
            <a:r>
              <a:t>需要大量排除来避免</a:t>
            </a:r>
            <a:br/>
            <a:r>
              <a:t>劫持不相关对话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规范约束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description ≤ 1024字符 · 第三人称 · name ≤ 64字符(小写+连字符) · 不含anthropic/claude · 每触发短语 ≤ 6词 · 所有"何时使用"放description不放body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指令架构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Arial"/>
              </a:defRPr>
            </a:pPr>
            <a:r>
              <a:t>自由度决定指令风格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20116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C759"/>
                </a:solidFill>
                <a:latin typeface="Arial"/>
              </a:defRPr>
            </a:pPr>
            <a:r>
              <a:t>低自由度：严格流程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适用：Git操作、格式转换、API调用</a:t>
            </a:r>
            <a:br/>
            <a:br/>
            <a:r>
              <a:t>"先运行 X，再检查 Y，失败则 Z"</a:t>
            </a:r>
            <a:br/>
            <a:br/>
            <a:r>
              <a:t>用脚本强制执行，物理上不可跳过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54864" cy="20116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500"/>
                </a:solidFill>
                <a:latin typeface="Arial"/>
              </a:defRPr>
            </a:pPr>
            <a:r>
              <a:t>中自由度：目标+边界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适用：生成测试、配置文件</a:t>
            </a:r>
            <a:br/>
            <a:br/>
            <a:r>
              <a:t>"生成覆盖边界情况的测试（目标），</a:t>
            </a:r>
            <a:br/>
            <a:r>
              <a:t>使用项目现有框架（约束）"</a:t>
            </a:r>
            <a:br/>
            <a:br/>
            <a:r>
              <a:t>混合：确定性部分脚本化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54864" cy="2011680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F52DE"/>
                </a:solidFill>
                <a:latin typeface="Arial"/>
              </a:defRPr>
            </a:pPr>
            <a:r>
              <a:t>高自由度：意图导向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适用：重构、文档、调试策略</a:t>
            </a:r>
            <a:br/>
            <a:br/>
            <a:r>
              <a:t>"改善可读性，保持现有 API 不变"</a:t>
            </a:r>
            <a:br/>
            <a:br/>
            <a:r>
              <a:t>给方向不给步骤，</a:t>
            </a:r>
            <a:br/>
            <a:r>
              <a:t>让模型发挥判断力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格式对执行合规的影响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编号列表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C759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顺序流程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39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代码块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C759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39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精确格式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标题 ##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C759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注意力锚点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粗体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500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关键术语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项目符号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500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规则集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表格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3B30"/>
                </a:solidFill>
                <a:latin typeface="Arial"/>
              </a:defRPr>
            </a:pPr>
            <a:r>
              <a:t>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参考数据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防腐烂三规则：① 指向不快照  ② 编码原则不编码版本  ③ 分离稳定逻辑和易变细节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测试与验证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Arial"/>
              </a:defRPr>
            </a:pPr>
            <a:r>
              <a:t>三级测试体系：严谨度匹配部署范围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41148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C759"/>
                </a:solidFill>
                <a:latin typeface="Arial"/>
              </a:defRPr>
            </a:pPr>
            <a:r>
              <a:t>Tier 1：原型级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对象：个人使用</a:t>
            </a:r>
            <a:br/>
            <a:r>
              <a:t>时间：5 分钟</a:t>
            </a:r>
            <a:br/>
            <a:br/>
            <a:r>
              <a:t>测试：3次手动调用</a:t>
            </a:r>
            <a:br/>
            <a:r>
              <a:t>  · 1 正常路径</a:t>
            </a:r>
            <a:br/>
            <a:r>
              <a:t>  · 1 边界情况</a:t>
            </a:r>
            <a:br/>
            <a:r>
              <a:t>  · 1 非触发（不应激活）</a:t>
            </a:r>
            <a:br/>
            <a:br/>
            <a:r>
              <a:t>指标：二元通过/失败</a:t>
            </a:r>
            <a:br/>
            <a:br/>
            <a:r>
              <a:t>可跳过：基线对比</a:t>
            </a:r>
            <a:br/>
            <a:r>
              <a:t>不可跳过：非触发测试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54864" cy="41148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500"/>
                </a:solidFill>
                <a:latin typeface="Arial"/>
              </a:defRPr>
            </a:pPr>
            <a:r>
              <a:t>Tier 2：生产级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对象：团队共享</a:t>
            </a:r>
            <a:br/>
            <a:r>
              <a:t>时间：30-60 分钟</a:t>
            </a:r>
            <a:br/>
            <a:br/>
            <a:r>
              <a:t>测试：4-5 eval 用例</a:t>
            </a:r>
            <a:br/>
            <a:r>
              <a:t>  · 2 正常 + 1-2 边界 + 1 对抗</a:t>
            </a:r>
            <a:br/>
            <a:r>
              <a:t>  · 10 查询触发测试</a:t>
            </a:r>
            <a:br/>
            <a:br/>
            <a:r>
              <a:t>指标：精度&gt;90%</a:t>
            </a:r>
            <a:br/>
            <a:r>
              <a:t>硬断言100%</a:t>
            </a:r>
            <a:br/>
            <a:r>
              <a:t>基线对比≥1正常路径</a:t>
            </a:r>
            <a:br/>
            <a:br/>
            <a:r>
              <a:t>模型：Sonnet + Haiku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54864" cy="4114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30"/>
                </a:solidFill>
                <a:latin typeface="Arial"/>
              </a:defRPr>
            </a:pPr>
            <a:r>
              <a:t>Tier 3：企业级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对象：全组织关键</a:t>
            </a:r>
            <a:br/>
            <a:r>
              <a:t>时间：首次半天</a:t>
            </a:r>
            <a:br/>
            <a:br/>
            <a:r>
              <a:t>测试：6-8 eval 用例</a:t>
            </a:r>
            <a:br/>
            <a:r>
              <a:t>  · 完整20查询触发套件</a:t>
            </a:r>
            <a:br/>
            <a:r>
              <a:t>  · 盲评基线对比</a:t>
            </a:r>
            <a:br/>
            <a:br/>
            <a:r>
              <a:t>指标：精度&gt;95%</a:t>
            </a:r>
            <a:br/>
            <a:r>
              <a:t>召回：窄≥90%/中≥80%/宽≥70%</a:t>
            </a:r>
            <a:br/>
            <a:r>
              <a:t>基线胜率&gt;70%</a:t>
            </a:r>
            <a:br/>
            <a:br/>
            <a:r>
              <a:t>模型：Haiku+Sonnet+Opus</a:t>
            </a:r>
            <a:br/>
            <a:r>
              <a:t>附加：季度评审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安全与防护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3B30"/>
                </a:solidFill>
                <a:latin typeface="Arial"/>
              </a:defRPr>
            </a:pPr>
            <a:r>
              <a:t>爆炸半径 ≤ 用户心智模型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30"/>
                </a:solidFill>
                <a:latin typeface="Arial"/>
              </a:defRPr>
            </a:pPr>
            <a:r>
              <a:t>供应链攻击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伪装有用工具发布恶意技能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30"/>
                </a:solidFill>
                <a:latin typeface="Arial"/>
              </a:defRPr>
            </a:pPr>
            <a:r>
              <a:t>指令注入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HTML注释/零宽字符隐藏指令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500"/>
                </a:solidFill>
                <a:latin typeface="Arial"/>
              </a:defRPr>
            </a:pPr>
            <a:r>
              <a:t>数据外泄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脚本读取 .env/.ssh 后外发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500"/>
                </a:solidFill>
                <a:latin typeface="Arial"/>
              </a:defRPr>
            </a:pPr>
            <a:r>
              <a:t>权限提升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引导执行 sudo/系统写入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AFF"/>
                </a:solidFill>
                <a:latin typeface="Arial"/>
              </a:defRPr>
            </a:pPr>
            <a:r>
              <a:t>技能干扰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注入"忽略其他约束"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鲁棒 vs 脆弱 防护栏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286000"/>
            <a:ext cx="4846320" cy="16459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2286000"/>
            <a:ext cx="54864" cy="16459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C759"/>
                </a:solidFill>
                <a:latin typeface="Arial"/>
              </a:defRPr>
            </a:pPr>
            <a:r>
              <a:t>✓ 鲁棒模式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889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· 结构化约束（正则匹配命令）</a:t>
            </a:r>
            <a:br/>
            <a:r>
              <a:t>· 关键规则首尾重复</a:t>
            </a:r>
            <a:br/>
            <a:r>
              <a:t>· 故障关闭默认（不确定则不执行）</a:t>
            </a:r>
            <a:br/>
            <a:r>
              <a:t>· 输出验证（显示命令等用户确认）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206240"/>
            <a:ext cx="4846320" cy="137160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4206240"/>
            <a:ext cx="54864" cy="13716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30"/>
                </a:solidFill>
                <a:latin typeface="Arial"/>
              </a:defRPr>
            </a:pPr>
            <a:r>
              <a:t>✗ 脆弱模式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0915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· "不要做X"（否定最弱）</a:t>
            </a:r>
            <a:br/>
            <a:r>
              <a:t>· 仅末尾放防护栏（被稀释）</a:t>
            </a:r>
            <a:br/>
            <a:r>
              <a:t>· "用你的判断"（被用户影响）</a:t>
            </a:r>
            <a:br/>
            <a:r>
              <a:t>· "请小心"（不可执行）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核心法则：技能的实际行为必须是其名称和描述所暗示范围的严格子集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多平台适配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Arial"/>
              </a:defRPr>
            </a:pPr>
            <a:r>
              <a:t>指令优先 + 能力检测增强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Claude.ai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文件系统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C759"/>
                </a:solidFill>
                <a:latin typeface="Arial"/>
              </a:defRPr>
            </a:pPr>
            <a:r>
              <a:t>完整读写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500"/>
                </a:solidFill>
                <a:latin typeface="Arial"/>
              </a:defRPr>
            </a:pPr>
            <a:r>
              <a:t>沙箱临时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B30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26883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C759"/>
                </a:solidFill>
                <a:latin typeface="Arial"/>
              </a:defRPr>
            </a:pPr>
            <a:r>
              <a:t>无限制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6883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500"/>
                </a:solidFill>
                <a:latin typeface="Arial"/>
              </a:defRPr>
            </a:pPr>
            <a:r>
              <a:t>沙箱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883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B30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181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网络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31181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C759"/>
                </a:solidFill>
                <a:latin typeface="Arial"/>
              </a:defRPr>
            </a:pPr>
            <a:r>
              <a:t>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31181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500"/>
                </a:solidFill>
                <a:latin typeface="Arial"/>
              </a:defRPr>
            </a:pPr>
            <a:r>
              <a:t>有限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181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B30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包安装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C759"/>
                </a:solidFill>
                <a:latin typeface="Arial"/>
              </a:defRPr>
            </a:pPr>
            <a:r>
              <a:t>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500"/>
                </a:solidFill>
                <a:latin typeface="Arial"/>
              </a:defRPr>
            </a:pPr>
            <a:r>
              <a:t>沙箱内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B30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子代理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C759"/>
                </a:solidFill>
                <a:latin typeface="Arial"/>
              </a:defRPr>
            </a:pPr>
            <a:r>
              <a:t>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B30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500"/>
                </a:solidFill>
                <a:latin typeface="Arial"/>
              </a:defRPr>
            </a:pPr>
            <a:r>
              <a:t>看调用方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074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39" y="44074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C759"/>
                </a:solidFill>
                <a:latin typeface="Arial"/>
              </a:defRPr>
            </a:pPr>
            <a:r>
              <a:t>完整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9" y="44074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B30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4074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3B30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终极裁决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40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核心工作流必须在零工具环境下完成（纯指令基线）。然后通过能力检测添加增强。</a:t>
            </a:r>
            <a:br/>
            <a:r>
              <a:t>测试：粘贴到无工具平台，核心任务仍能完成 = 通过。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企业治理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37744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23774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AFF"/>
                </a:solidFill>
                <a:latin typeface="Arial"/>
              </a:defRPr>
            </a:pPr>
            <a:r>
              <a:t>所有权分级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平台级：平台团队所有</a:t>
            </a:r>
            <a:br/>
            <a:r>
              <a:t>→ 全公司标准（品牌/安全/合规）</a:t>
            </a:r>
            <a:br/>
            <a:r>
              <a:t>→ 安全+合规团队审查</a:t>
            </a:r>
            <a:br/>
            <a:br/>
            <a:r>
              <a:t>领域级：产品团队所有</a:t>
            </a:r>
            <a:br/>
            <a:r>
              <a:t>→ 特定产品/服务</a:t>
            </a:r>
            <a:br/>
            <a:r>
              <a:t>→ 团队内 peer review</a:t>
            </a:r>
            <a:br/>
            <a:br/>
            <a:r>
              <a:t>个人级：开发者自有</a:t>
            </a:r>
            <a:br/>
            <a:r>
              <a:t>→ 个人工作流自动化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237744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54864" cy="237744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500"/>
                </a:solidFill>
                <a:latin typeface="Arial"/>
              </a:defRPr>
            </a:pPr>
            <a:r>
              <a:t>合规分级（frontmatter）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Tier 1 通用生产力</a:t>
            </a:r>
            <a:br/>
            <a:r>
              <a:t>→ 团队级审查</a:t>
            </a:r>
            <a:br/>
            <a:br/>
            <a:r>
              <a:t>Tier 2 涉及客户数据</a:t>
            </a:r>
            <a:br/>
            <a:r>
              <a:t>→ 安全 + 合规审查</a:t>
            </a:r>
            <a:br/>
            <a:br/>
            <a:r>
              <a:t>Tier 3 监管提交内容</a:t>
            </a:r>
            <a:br/>
            <a:r>
              <a:t>→ 法务签批</a:t>
            </a:r>
            <a:br/>
            <a:br/>
            <a:r>
              <a:t>在 frontmatter 中声明：</a:t>
            </a:r>
            <a:br/>
            <a:r>
              <a:t>compliance-tier: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37744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54864" cy="237744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30"/>
                </a:solidFill>
                <a:latin typeface="Arial"/>
              </a:defRPr>
            </a:pPr>
            <a:r>
              <a:t>维护与废弃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版本管理：frontmatter semver</a:t>
            </a:r>
            <a:br/>
            <a:r>
              <a:t>行为变更 = 主版本号升级</a:t>
            </a:r>
            <a:br/>
            <a:br/>
            <a:r>
              <a:t>季度评审：</a:t>
            </a:r>
            <a:br/>
            <a:r>
              <a:t>· 自动标记超期技能</a:t>
            </a:r>
            <a:br/>
            <a:r>
              <a:t>· 无 owner → 升级到平台组</a:t>
            </a:r>
            <a:br/>
            <a:r>
              <a:t>· 依据业务案例评审 ROI</a:t>
            </a:r>
            <a:br/>
            <a:br/>
            <a:r>
              <a:t>废弃：更新为提示→保留1季→移除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采纳策略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Arial"/>
              </a:defRPr>
            </a:pPr>
            <a:r>
              <a:t>从 3-5 个高影响技能开始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解决广泛感知的痛点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Arial"/>
              </a:defRPr>
            </a:pPr>
            <a:r>
              <a:t>每团队 1-2 个 Champion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有机口碑 &gt; 自上而下推广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Arial"/>
              </a:defRPr>
            </a:pPr>
            <a:r>
              <a:t>新人入职第一天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指向角色最相关的 5-6 个技能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Arial"/>
              </a:defRPr>
            </a:pPr>
            <a:r>
              <a:t>首次使用必须无摩擦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第一次就正确工作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D2D3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开发工作流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Arial"/>
              </a:defRPr>
            </a:pPr>
            <a:r>
              <a:t>从零到生产 ~90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651760" cy="329184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32918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C759"/>
                </a:solidFill>
                <a:latin typeface="Arial"/>
              </a:defRPr>
            </a:pPr>
            <a:r>
              <a:t>粗稿  (20min)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写 description + 5行指令</a:t>
            </a:r>
            <a:br/>
            <a:r>
              <a:t>触发检查（3查询）</a:t>
            </a:r>
            <a:br/>
            <a:r>
              <a:t>第一个正常路径</a:t>
            </a:r>
            <a:br/>
            <a:r>
              <a:t>指令衍射诊断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37360"/>
            <a:ext cx="2651760" cy="329184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737360"/>
            <a:ext cx="54864" cy="329184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500"/>
                </a:solidFill>
                <a:latin typeface="Arial"/>
              </a:defRPr>
            </a:pPr>
            <a:r>
              <a:t>去过拟合  (30min)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402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不同实例测试（关键！）</a:t>
            </a:r>
            <a:br/>
            <a:r>
              <a:t>修复实例间差异</a:t>
            </a:r>
            <a:br/>
            <a:r>
              <a:t>添加逃生出口+检查点</a:t>
            </a:r>
            <a:br/>
            <a:r>
              <a:t>再跑3个多样实例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2651760" cy="329184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4864" cy="32918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AFF"/>
                </a:solidFill>
                <a:latin typeface="Arial"/>
              </a:defRPr>
            </a:pPr>
            <a:r>
              <a:t>正式化  (30min)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402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编写 evals.json</a:t>
            </a:r>
            <a:br/>
            <a:r>
              <a:t>运行 eval + 基线对比</a:t>
            </a:r>
            <a:br/>
            <a:r>
              <a:t>10查询触发套件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737360"/>
            <a:ext cx="2651760" cy="329184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737360"/>
            <a:ext cx="54864" cy="3291840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F52DE"/>
                </a:solidFill>
                <a:latin typeface="Arial"/>
              </a:defRPr>
            </a:pPr>
            <a:r>
              <a:t>加固  (按需)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4028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Arial"/>
              </a:defRPr>
            </a:pPr>
            <a:r>
              <a:t>双Claude对抗审查</a:t>
            </a:r>
            <a:br/>
            <a:r>
              <a:t>交给从未见过的人</a:t>
            </a:r>
            <a:br/>
            <a:r>
              <a:t>添加负面示例 2:1</a:t>
            </a:r>
            <a:br/>
            <a:r>
              <a:t>考虑脚本和引用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最重要的洞见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E8E93"/>
                </a:solidFill>
                <a:latin typeface="Arial"/>
              </a:defRPr>
            </a:pPr>
            <a:r>
              <a:t>步骤5（不同实例）才是真正的测试。大多数人止步于步骤3（激发实例通过就宣告胜利）。架构是理解的奖赏，不是替代品。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五个关键设计模式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E8E93"/>
                </a:solidFill>
                <a:latin typeface="Arial"/>
              </a:defRPr>
            </a:pPr>
            <a:r>
              <a:t>从 30+ 技能实战中提炼的非显而易见的洞见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逃生出口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C759"/>
                </a:solidFill>
                <a:latin typeface="Arial"/>
              </a:defRPr>
            </a:pPr>
            <a:r>
              <a:t>Escape Hatch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定义"何时停止"，</a:t>
            </a:r>
            <a:br/>
            <a:r>
              <a:t>防止边界情况下幻觉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C759"/>
                </a:solidFill>
                <a:latin typeface="Arial"/>
              </a:defRPr>
            </a:pPr>
            <a:r>
              <a:t>最高ROI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输出锚定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AFF"/>
                </a:solidFill>
                <a:latin typeface="Arial"/>
              </a:defRPr>
            </a:pPr>
            <a:r>
              <a:t>Output Anchoring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346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固定输出格式模板，</a:t>
            </a:r>
            <a:br/>
            <a:r>
              <a:t>消除80%输出变异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Arial"/>
              </a:defRPr>
            </a:pPr>
            <a:r>
              <a:t>比指令改进更有效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94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94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上下文获取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500"/>
                </a:solidFill>
                <a:latin typeface="Arial"/>
              </a:defRPr>
            </a:pPr>
            <a:r>
              <a:t>Context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947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先读取环境再行动，</a:t>
            </a:r>
            <a:br/>
            <a:r>
              <a:t>跳过=demo能用现实失败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Arial"/>
              </a:defRPr>
            </a:pPr>
            <a:r>
              <a:t>必备第一步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负面示例优先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3B30"/>
                </a:solidFill>
                <a:latin typeface="Arial"/>
              </a:defRPr>
            </a:pPr>
            <a:r>
              <a:t>Negative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54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展示"不要这样做"，</a:t>
            </a:r>
            <a:br/>
            <a:r>
              <a:t>效果是正面示例的3倍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B30"/>
                </a:solidFill>
                <a:latin typeface="Arial"/>
              </a:defRPr>
            </a:pPr>
            <a:r>
              <a:t>2:1负正比例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669280"/>
            <a:ext cx="457200" cy="457200"/>
          </a:xfrm>
          <a:prstGeom prst="ellipse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检查点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F52DE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715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多步骤中向用户确认，</a:t>
            </a:r>
            <a:br/>
            <a:r>
              <a:t>无检查点=被放弃首因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F52DE"/>
                </a:solidFill>
                <a:latin typeface="Arial"/>
              </a:defRPr>
            </a:pPr>
            <a:r>
              <a:t>信任基础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成熟度模型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651760" cy="34747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651760" cy="54864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E8E93"/>
                </a:solidFill>
                <a:latin typeface="Arial"/>
              </a:defRPr>
            </a:pPr>
            <a:r>
              <a:t>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草稿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有desc+body</a:t>
            </a:r>
            <a:br/>
            <a:r>
              <a:t>3次手动测试</a:t>
            </a:r>
            <a:br/>
            <a:r>
              <a:t>无误触发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651760" cy="34747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463040"/>
            <a:ext cx="2651760" cy="54864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C759"/>
                </a:solidFill>
                <a:latin typeface="Arial"/>
              </a:defRPr>
            </a:pPr>
            <a: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已验证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346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4+ eval用例</a:t>
            </a:r>
            <a:br/>
            <a:r>
              <a:t>精度≥95%</a:t>
            </a:r>
            <a:br/>
            <a:r>
              <a:t>硬断言100%</a:t>
            </a:r>
            <a:br/>
            <a:r>
              <a:t>Peer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2651760" cy="34747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2651760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AFF"/>
                </a:solidFill>
                <a:latin typeface="Arial"/>
              </a:defRPr>
            </a:pPr>
            <a: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Blessed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Tier 3全通过</a:t>
            </a:r>
            <a:br/>
            <a:r>
              <a:t>平台团队所有</a:t>
            </a:r>
            <a:br/>
            <a:r>
              <a:t>完整frontmatter</a:t>
            </a:r>
            <a:br/>
            <a:r>
              <a:t>季度评审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63040"/>
            <a:ext cx="2651760" cy="3474720"/>
          </a:xfrm>
          <a:prstGeom prst="roundRect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63040"/>
            <a:ext cx="2651760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500"/>
                </a:solidFill>
                <a:latin typeface="Arial"/>
              </a:defRPr>
            </a:pPr>
            <a: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关键路径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8346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CI集成</a:t>
            </a:r>
            <a:br/>
            <a:r>
              <a:t>回归自动化</a:t>
            </a:r>
            <a:br/>
            <a:r>
              <a:t>指定on-call</a:t>
            </a:r>
            <a:br/>
            <a:r>
              <a:t>失败有SLA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升级 = 通过目标级所有准入标准    降级 = 季度评审不满足时自动降级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 分钟快速评估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AFF"/>
                </a:solidFill>
                <a:latin typeface="Arial"/>
              </a:defRPr>
            </a:pPr>
            <a:r>
              <a:t>① 模糊近似查询触发了吗？（不应该）  ② 最危险的操作是什么？用户知道吗？  ③ 两次相同查询输出一致吗？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构建更好的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E8E93"/>
                </a:solidFill>
                <a:latin typeface="Arial"/>
              </a:defRPr>
            </a:pPr>
            <a:r>
              <a:t>从经验中来，到实践中去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A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核心原则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3B3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反模式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4C75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测试级别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5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成熟度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F52D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设计模式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E8E93"/>
                </a:solidFill>
                <a:latin typeface="Arial"/>
              </a:defRPr>
            </a:pPr>
            <a:r>
              <a:t>10 Agents · 5 Rounds · 1 Methodology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